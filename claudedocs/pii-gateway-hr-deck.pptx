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20240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595959"/>
                </a:solidFill>
                <a:latin typeface="Calibri"/>
              </a:rPr>
              <a:t>인사팀 대상 설명자료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286000"/>
            <a:ext cx="1036289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111111"/>
                </a:solidFill>
                <a:latin typeface="Calibri"/>
              </a:rPr>
              <a:t>개인정보 보호 게이트웨이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160520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 i="0">
                <a:solidFill>
                  <a:srgbClr val="7F7F7F"/>
                </a:solidFill>
                <a:latin typeface="Calibri"/>
              </a:rPr>
              <a:t>인사 데이터를 AI에 그대로 노출하지 않고 안전하게 활용하는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943600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7F7F7F"/>
                </a:solidFill>
                <a:latin typeface="Calibri"/>
              </a:rPr>
              <a:t>데이터보호 담당   | 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11111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인사 데이터엔 가장 민감한 개인정보가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연봉·주민등록번호·계좌·전화번호처럼 한 번 새면 되돌릴 수 없는 정보가 인사 데이터의 핵심입니다.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그런데 이 데이터로 AI에게 안내문 작성·근태 통지·통계 리포트를 맡기려면, 보통 원본을 그대로 모델에 넣게 됩니다 — 그 순간 민감정보가 노출되고, 유출 시 법적·평판 리스크로 이어집니다.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이 게이트웨이는 'AI에게 일은 시키되, 누구의 정보인지는 보여주지 않는' 안전한 통로를 만듭니다.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F7F7F"/>
                </a:solidFill>
                <a:latin typeface="Calibri"/>
              </a:rPr>
              <a:t>대외비 · Confidential · 인사팀 대상 설명자료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핵심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신원은 번호표로, 숫자는 그대로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1">
                <a:solidFill>
                  <a:srgbClr val="595959"/>
                </a:solidFill>
                <a:latin typeface="Calibri"/>
              </a:rPr>
              <a:t>직접 식별자만 '대리 번호표(토큰)'로 바꾸고, 분석에 필요한 숫자는 원본을 유지합니다.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1153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이름·주민번호·계좌 같은 직접 식별자 → 토큰으로 치환 (누구인지 가림)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연봉·근태 같은 숫자 → 원본 그대로 유지 (평균·집계가 가능)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AI는 토큰 파일만 보고 작업 — 실제 이름·주민번호는 컨텍스트에 들어가지 않음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작업이 끝나면 최종 결과물만 실제 값으로 되돌려(재식별) 담당자에게 전달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원본↔토큰 대응표만 안전하게 보관하면 됨 (키 없이도 동작)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F7F7F"/>
                </a:solidFill>
                <a:latin typeface="Calibri"/>
              </a:rPr>
              <a:t>대외비 · Confidential · 인사팀 대상 설명자료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동작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세 단계로 끝납니다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46120"/>
            <a:ext cx="3332378" cy="1554480"/>
          </a:xfrm>
          <a:prstGeom prst="round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1. 비식별화</a:t>
            </a:r>
          </a:p>
          <a:p>
            <a:pPr algn="ctr"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  <a:latin typeface="Calibri"/>
              </a:rPr>
              <a:t>식별자→토큰, 숫자는 원본 유지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18178" y="3858768"/>
            <a:ext cx="365760" cy="329184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29658" y="3246120"/>
            <a:ext cx="3332378" cy="155448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2. 작업·집계</a:t>
            </a:r>
          </a:p>
          <a:p>
            <a:pPr algn="ctr"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  <a:latin typeface="Calibri"/>
              </a:rPr>
              <a:t>토큰 파일로 안내문·통계 작성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07756" y="3858768"/>
            <a:ext cx="365760" cy="329184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19236" y="3246120"/>
            <a:ext cx="3332378" cy="1554480"/>
          </a:xfrm>
          <a:prstGeom prst="round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3. 재식별</a:t>
            </a:r>
          </a:p>
          <a:p>
            <a:pPr algn="ctr"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  <a:latin typeface="Calibri"/>
              </a:rPr>
              <a:t>최종본만 실제 값 복원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F7F7F"/>
                </a:solidFill>
                <a:latin typeface="Calibri"/>
              </a:rPr>
              <a:t>대외비 · Confidential · 인사팀 대상 설명자료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보호 범위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무엇을 가리고, 무엇을 남기나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1814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95959"/>
                </a:solidFill>
                <a:latin typeface="Calibri"/>
              </a:rPr>
              <a:t>토큰으로 가림 (직접 식별자)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5181447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이름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주민등록번호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사번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계좌번호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전화번호·이메일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카드·사업자등록번호·IP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1737360"/>
            <a:ext cx="51814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95959"/>
                </a:solidFill>
                <a:latin typeface="Calibri"/>
              </a:rPr>
              <a:t>원본 유지 (분석용)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2286000"/>
            <a:ext cx="5181447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연봉·급여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근태(지각·결근·연차)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부서·직급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→ 평균·합계·분포를 직접 계산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→ 누구의 값인지는 알 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F7F7F"/>
                </a:solidFill>
                <a:latin typeface="Calibri"/>
              </a:rPr>
              <a:t>대외비 · Confidential · 인사팀 대상 설명자료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사용 예시 · 연봉 안내 메일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작업본은 토큰, 최종본만 실명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227167" cy="4480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227167" cy="6400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678527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AI가 보는 작업본 (토큰)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받는사람: [[NAME:17f2…]]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2026년 확정 연봉은 3,194만원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→ 실제 이름·주민·계좌 없음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4447" y="1737360"/>
            <a:ext cx="5227167" cy="4480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24447" y="1737360"/>
            <a:ext cx="5227167" cy="640080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1737360"/>
            <a:ext cx="4678527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담당자만 보는 최종본 (재식별)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260604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받는사람: 신다은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2026년 확정 연봉은 3,194만원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→ 인가된 담당자에게만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F7F7F"/>
                </a:solidFill>
                <a:latin typeface="Calibri"/>
              </a:rPr>
              <a:t>대외비 · Confidential · 인사팀 대상 설명자료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통계도, 개인별 업무도 — 누출 없이 둘 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1">
                <a:solidFill>
                  <a:srgbClr val="595959"/>
                </a:solidFill>
                <a:latin typeface="Calibri"/>
              </a:rPr>
              <a:t>다양한 데이터·시나리오를 실제로 돌려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2453563" cy="2560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453563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4535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Calibri"/>
              </a:rPr>
              <a:t>0건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24535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식별자 누출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F7F7F"/>
                </a:solidFill>
                <a:latin typeface="Calibri"/>
              </a:rPr>
              <a:t>작업 내내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9403" y="2103120"/>
            <a:ext cx="2453563" cy="2560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9403" y="2103120"/>
            <a:ext cx="2453563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03" y="2560320"/>
            <a:ext cx="24535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Calibri"/>
              </a:rPr>
              <a:t>24/24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3611880"/>
            <a:ext cx="24535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시나리오 통과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2283" y="402336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F7F7F"/>
                </a:solidFill>
                <a:latin typeface="Calibri"/>
              </a:rPr>
              <a:t>통계 + HR 업무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2103120"/>
            <a:ext cx="2453563" cy="2560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2103120"/>
            <a:ext cx="2453563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727" y="2560320"/>
            <a:ext cx="24535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611880"/>
            <a:ext cx="24535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통계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7" y="402336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F7F7F"/>
                </a:solidFill>
                <a:latin typeface="Calibri"/>
              </a:rPr>
              <a:t>비식별 파일서 직접 산출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98051" y="2103120"/>
            <a:ext cx="2453563" cy="2560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98051" y="2103120"/>
            <a:ext cx="2453563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051" y="2560320"/>
            <a:ext cx="24535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Calibri"/>
              </a:rPr>
              <a:t>250명+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051" y="3611880"/>
            <a:ext cx="24535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검증 데이터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0931" y="402336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F7F7F"/>
                </a:solidFill>
                <a:latin typeface="Calibri"/>
              </a:rPr>
              <a:t>다른 규모·문서 포함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0080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F7F7F"/>
                </a:solidFill>
                <a:latin typeface="Calibri"/>
              </a:rPr>
              <a:t>대외비 · Confidential · 인사팀 대상 설명자료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통계 예시 (개인정보 미포함)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부서별 평균 연봉도 그대로 나옵니다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1">
                <a:solidFill>
                  <a:srgbClr val="595959"/>
                </a:solidFill>
                <a:latin typeface="Calibri"/>
              </a:rPr>
              <a:t>비식별 파일에서 직접 산출 — 이름·주민·계좌는 토큰이라 결과에 없음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91153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3637178"/>
                <a:gridCol w="3637179"/>
              </a:tblGrid>
              <a:tr h="496388"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FFFFFF"/>
                          </a:solidFill>
                          <a:latin typeface="Calibri"/>
                        </a:rPr>
                        <a:t>부서</a:t>
                      </a:r>
                    </a:p>
                  </a:txBody>
                  <a:tcPr anchor="ctr" marL="109728" marR="109728" marT="36576" marB="36576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FFFFFF"/>
                          </a:solidFill>
                          <a:latin typeface="Calibri"/>
                        </a:rPr>
                        <a:t>인원</a:t>
                      </a:r>
                    </a:p>
                  </a:txBody>
                  <a:tcPr anchor="ctr" marL="109728" marR="109728" marT="36576" marB="36576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FFFFFF"/>
                          </a:solidFill>
                          <a:latin typeface="Calibri"/>
                        </a:rPr>
                        <a:t>평균 연봉(만원)</a:t>
                      </a:r>
                    </a:p>
                  </a:txBody>
                  <a:tcPr anchor="ctr" marL="109728" marR="109728" marT="36576" marB="36576">
                    <a:solidFill>
                      <a:srgbClr val="111111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재무팀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6,396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개발팀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6,242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인사팀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6,135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고객지원팀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5,962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영업팀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5,799</a:t>
                      </a:r>
                    </a:p>
                  </a:txBody>
                  <a:tcPr anchor="ctr" marL="109728" marR="109728" marT="36576" marB="36576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마케팅팀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A1A1A"/>
                          </a:solidFill>
                          <a:latin typeface="Calibri"/>
                        </a:rPr>
                        <a:t>5,788</a:t>
                      </a:r>
                    </a:p>
                  </a:txBody>
                  <a:tcPr anchor="ctr" marL="109728" marR="109728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0080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F7F7F"/>
                </a:solidFill>
                <a:latin typeface="Calibri"/>
              </a:rPr>
              <a:t>대외비 · Confidential · 인사팀 대상 설명자료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기대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인사팀에게 무엇이 좋은가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1">
                <a:solidFill>
                  <a:srgbClr val="595959"/>
                </a:solidFill>
                <a:latin typeface="Calibri"/>
              </a:rPr>
              <a:t>평소처럼 일하되, 신원은 가려진 채로.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1153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안전 — 이름·주민번호·계좌가 AI에 노출 0건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통계 가능 — 연봉·근태가 원본이라 평균·집계를 그대로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되돌림 — 최종 결과물만 담당자가 재식별해 발송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간편 — 키 없이 '비식별화 → 재식별' 두 단계, 도구가 알아서 처리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문서도 OK — 메모·이메일 초안(.txt/.md) 속 식별정보도 봉인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F7F7F"/>
                </a:solidFill>
                <a:latin typeface="Calibri"/>
              </a:rPr>
              <a:t>대외비 · Confidential · 인사팀 대상 설명자료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유의사항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꼭 알아둘 점 (솔직한 한계)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숫자 값 자체는 (이름과 분리된 채) 모델에 보입니다 — 이게 통계를 가능케 하지만, 개별 숫자조차 숨겨야 한다면 집계값만 전달하세요.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복원 대응표(map)는 평문이라 원본만큼 민감합니다 — 원본 파일처럼 안전하게 보관해야 합니다.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문장 속 '이름'은 직원 명부를 줘야 가려집니다. 명부에 없는 외부 인물 이름은 자동 탐지되지 않습니다.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개인별 산출물과 디스크 암호화가 동시에 필요하면 더 강한 '키 게이트웨이' 모드를 씁니다(대신 숫자가 봉인되어 집계는 불가).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F7F7F"/>
                </a:solidFill>
                <a:latin typeface="Calibri"/>
              </a:rPr>
              <a:t>대외비 · Confidential · 인사팀 대상 설명자료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1153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5000" b="1" i="0">
                <a:solidFill>
                  <a:srgbClr val="FFFFFF"/>
                </a:solidFill>
                <a:latin typeface="Calibri"/>
              </a:rPr>
              <a:t>시작하기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0">
                <a:solidFill>
                  <a:srgbClr val="FFFFFF"/>
                </a:solidFill>
                <a:latin typeface="Calibri"/>
              </a:rPr>
              <a:t>담당자 키·도입 방법은 데이터보호 담당 부서로 문의해 주세요 · 본 자료의 데이터는 모두 합성(가상) 예시입니다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