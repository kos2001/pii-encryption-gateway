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1920240"/>
            <a:ext cx="103628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595959"/>
                </a:solidFill>
                <a:latin typeface="Calibri"/>
              </a:rPr>
              <a:t>인사팀 대상 설명자료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286000"/>
            <a:ext cx="10362895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 i="0">
                <a:solidFill>
                  <a:srgbClr val="111111"/>
                </a:solidFill>
                <a:latin typeface="Calibri"/>
              </a:rPr>
              <a:t>개인정보 보호 게이트웨이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160520"/>
            <a:ext cx="1036289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 i="0">
                <a:solidFill>
                  <a:srgbClr val="7F7F7F"/>
                </a:solidFill>
                <a:latin typeface="Calibri"/>
              </a:rPr>
              <a:t>인사 데이터를 AI에 노출하지 않고 안전하게 활용하는 방법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943600"/>
            <a:ext cx="103628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7F7F7F"/>
                </a:solidFill>
                <a:latin typeface="Calibri"/>
              </a:rPr>
              <a:t>데이터보호 담당   |   2026.06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08415" y="18288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111111"/>
                </a:solidFill>
                <a:latin typeface="Calibri"/>
              </a:rPr>
              <a:t>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18872"/>
            <a:ext cx="816833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왜 · 무엇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47472"/>
            <a:ext cx="8168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식별자는 토큰화, 숫자는 원본 유지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 i="1">
                <a:solidFill>
                  <a:srgbClr val="595959"/>
                </a:solidFill>
                <a:latin typeface="Calibri"/>
              </a:rPr>
              <a:t>AI로 인사 데이터를 다루면 민감정보가 노출됩니다 — 이를 막는 안전 통로입니다.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10911535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2200" b="1" i="0">
                <a:solidFill>
                  <a:srgbClr val="1A1A1A"/>
                </a:solidFill>
                <a:latin typeface="Calibri"/>
              </a:rPr>
              <a:t>●  이름·주민번호·계좌 등 직접 식별자 → 토큰으로 치환 (누구인지 가림)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2200" b="1" i="0">
                <a:solidFill>
                  <a:srgbClr val="1A1A1A"/>
                </a:solidFill>
                <a:latin typeface="Calibri"/>
              </a:rPr>
              <a:t>●  연봉·근태 같은 숫자 → 원본 유지 (평균·집계가 그대로 가능)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2200" b="0" i="0">
                <a:solidFill>
                  <a:srgbClr val="1A1A1A"/>
                </a:solidFill>
                <a:latin typeface="Calibri"/>
              </a:rPr>
              <a:t>●  AI는 토큰 파일만 보고 작업 — 실제 식별자는 컨텍스트에 안 들어감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2200" b="0" i="0">
                <a:solidFill>
                  <a:srgbClr val="1A1A1A"/>
                </a:solidFill>
                <a:latin typeface="Calibri"/>
              </a:rPr>
              <a:t>●  최종 결과물만 실제 값으로 되돌려(재식별) 담당자에게 전달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7F7F7F"/>
                </a:solidFill>
                <a:latin typeface="Calibri"/>
              </a:rPr>
              <a:t>대외비 · Confidential · 인사팀 대상 설명자료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54335" y="6291072"/>
            <a:ext cx="1097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600" b="0" i="0">
                <a:solidFill>
                  <a:srgbClr val="7F7F7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08415" y="18288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18872"/>
            <a:ext cx="816833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동작 원리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47472"/>
            <a:ext cx="8168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세 단계 처리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246120"/>
            <a:ext cx="3332378" cy="1554480"/>
          </a:xfrm>
          <a:prstGeom prst="round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500">
                <a:solidFill>
                  <a:srgbClr val="FFFFFF"/>
                </a:solidFill>
                <a:latin typeface="Calibri"/>
              </a:rPr>
              <a:t>1. 비식별화</a:t>
            </a:r>
          </a:p>
          <a:p>
            <a:pPr algn="ctr"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  <a:latin typeface="Calibri"/>
              </a:rPr>
              <a:t>식별자→토큰, 숫자는 원본 유지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018178" y="3858768"/>
            <a:ext cx="365760" cy="329184"/>
          </a:xfrm>
          <a:prstGeom prst="rightArrow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429658" y="3246120"/>
            <a:ext cx="3332378" cy="1554480"/>
          </a:xfrm>
          <a:prstGeom prst="round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500">
                <a:solidFill>
                  <a:srgbClr val="FFFFFF"/>
                </a:solidFill>
                <a:latin typeface="Calibri"/>
              </a:rPr>
              <a:t>2. 작업·집계</a:t>
            </a:r>
          </a:p>
          <a:p>
            <a:pPr algn="ctr"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  <a:latin typeface="Calibri"/>
              </a:rPr>
              <a:t>토큰 파일로 안내문·통계 작성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807756" y="3858768"/>
            <a:ext cx="365760" cy="329184"/>
          </a:xfrm>
          <a:prstGeom prst="rightArrow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19236" y="3246120"/>
            <a:ext cx="3332378" cy="1554480"/>
          </a:xfrm>
          <a:prstGeom prst="round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500">
                <a:solidFill>
                  <a:srgbClr val="FFFFFF"/>
                </a:solidFill>
                <a:latin typeface="Calibri"/>
              </a:rPr>
              <a:t>3. 재식별</a:t>
            </a:r>
          </a:p>
          <a:p>
            <a:pPr algn="ctr"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  <a:latin typeface="Calibri"/>
              </a:rPr>
              <a:t>최종본만 실제 값 복원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00800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7F7F7F"/>
                </a:solidFill>
                <a:latin typeface="Calibri"/>
              </a:rPr>
              <a:t>대외비 · Confidential · 인사팀 대상 설명자료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54335" y="6291072"/>
            <a:ext cx="1097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600" b="0" i="0">
                <a:solidFill>
                  <a:srgbClr val="7F7F7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08415" y="18288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18872"/>
            <a:ext cx="816833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사용 예시 · 연봉 안내 메일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47472"/>
            <a:ext cx="8168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작업본은 토큰, 최종본은 실명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227167" cy="44805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737360"/>
            <a:ext cx="5227167" cy="6400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4678527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AI가 보는 작업본 (토큰)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06040"/>
            <a:ext cx="4678527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2200" b="0" i="0">
                <a:solidFill>
                  <a:srgbClr val="1A1A1A"/>
                </a:solidFill>
                <a:latin typeface="Calibri"/>
              </a:rPr>
              <a:t>●  받는사람: [[NAME:17f2…]]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2200" b="0" i="0">
                <a:solidFill>
                  <a:srgbClr val="1A1A1A"/>
                </a:solidFill>
                <a:latin typeface="Calibri"/>
              </a:rPr>
              <a:t>●  2026년 확정 연봉은 3,194만원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2200" b="0" i="0">
                <a:solidFill>
                  <a:srgbClr val="1A1A1A"/>
                </a:solidFill>
                <a:latin typeface="Calibri"/>
              </a:rPr>
              <a:t>●  → 실제 이름·주민·계좌 없음</a:t>
            </a:r>
          </a:p>
        </p:txBody>
      </p:sp>
      <p:sp>
        <p:nvSpPr>
          <p:cNvPr id="9" name="Rectangle 8"/>
          <p:cNvSpPr/>
          <p:nvPr/>
        </p:nvSpPr>
        <p:spPr>
          <a:xfrm>
            <a:off x="6324447" y="1737360"/>
            <a:ext cx="5227167" cy="44805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24447" y="1737360"/>
            <a:ext cx="5227167" cy="640080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98767" y="1737360"/>
            <a:ext cx="4678527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담당자만 보는 최종본 (재식별)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98767" y="2606040"/>
            <a:ext cx="4678527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2200" b="0" i="0">
                <a:solidFill>
                  <a:srgbClr val="1A1A1A"/>
                </a:solidFill>
                <a:latin typeface="Calibri"/>
              </a:rPr>
              <a:t>●  받는사람: 신다은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2200" b="0" i="0">
                <a:solidFill>
                  <a:srgbClr val="1A1A1A"/>
                </a:solidFill>
                <a:latin typeface="Calibri"/>
              </a:rPr>
              <a:t>●  2026년 확정 연봉은 3,194만원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2200" b="0" i="0">
                <a:solidFill>
                  <a:srgbClr val="1A1A1A"/>
                </a:solidFill>
                <a:latin typeface="Calibri"/>
              </a:rPr>
              <a:t>●  → 인가된 담당자에게만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00800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7F7F7F"/>
                </a:solidFill>
                <a:latin typeface="Calibri"/>
              </a:rPr>
              <a:t>대외비 · Confidential · 인사팀 대상 설명자료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54335" y="6291072"/>
            <a:ext cx="1097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600" b="0" i="0">
                <a:solidFill>
                  <a:srgbClr val="7F7F7F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08415" y="18288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377440"/>
            <a:ext cx="1091153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5000" b="1" i="0">
                <a:solidFill>
                  <a:srgbClr val="FFFFFF"/>
                </a:solidFill>
                <a:latin typeface="Calibri"/>
              </a:rPr>
              <a:t>도입 안내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931920"/>
            <a:ext cx="1091153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 i="0">
                <a:solidFill>
                  <a:srgbClr val="FFFFFF"/>
                </a:solidFill>
                <a:latin typeface="Calibri"/>
              </a:rPr>
              <a:t>도입·키 발급은 데이터보호 담당 부서로 문의 · 데이터는 합성 예시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08415" y="18288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