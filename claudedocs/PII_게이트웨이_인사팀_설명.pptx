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E5C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54864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SAMSUNG </a:t>
            </a:r>
            <a:r>
              <a:rPr sz="1600" b="1">
                <a:solidFill>
                  <a:srgbClr val="9FB3F2"/>
                </a:solidFill>
                <a:latin typeface="맑은 고딕"/>
                <a:ea typeface="맑은 고딕"/>
                <a:cs typeface="맑은 고딕"/>
              </a:rPr>
              <a:t>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86000"/>
            <a:ext cx="10515600" cy="18288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개인정보 보호 게이트웨이</a:t>
            </a:r>
          </a:p>
          <a:p>
            <a:pPr algn="l">
              <a:lnSpc>
                <a:spcPct val="110000"/>
              </a:lnSpc>
            </a:pPr>
            <a:r>
              <a:rPr sz="2200" b="0">
                <a:solidFill>
                  <a:srgbClr val="9FB3F2"/>
                </a:solidFill>
                <a:latin typeface="맑은 고딕"/>
                <a:ea typeface="맑은 고딕"/>
                <a:cs typeface="맑은 고딕"/>
              </a:rPr>
              <a:t>PII Encryption Gateway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97680"/>
            <a:ext cx="100584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D7DEF7"/>
                </a:solidFill>
                <a:latin typeface="맑은 고딕"/>
                <a:ea typeface="맑은 고딕"/>
                <a:cs typeface="맑은 고딕"/>
              </a:rPr>
              <a:t>인사 데이터를 AI에 </a:t>
            </a: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그대로 노출하지 않고</a:t>
            </a:r>
            <a:r>
              <a:rPr sz="1800" b="0">
                <a:solidFill>
                  <a:srgbClr val="D7DEF7"/>
                </a:solidFill>
                <a:latin typeface="맑은 고딕"/>
                <a:ea typeface="맑은 고딕"/>
                <a:cs typeface="맑은 고딕"/>
              </a:rPr>
              <a:t> 안전하게 활용하는 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852160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FB3F2"/>
                </a:solidFill>
                <a:latin typeface="맑은 고딕"/>
                <a:ea typeface="맑은 고딕"/>
                <a:cs typeface="맑은 고딕"/>
              </a:rPr>
              <a:t>인사팀 대상 설명자료  ·  2026.06  ·  대외비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4114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0584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E5CD0"/>
                </a:solidFill>
                <a:latin typeface="맑은 고딕"/>
                <a:ea typeface="맑은 고딕"/>
                <a:cs typeface="맑은 고딕"/>
              </a:rPr>
              <a:t>배경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"/>
            <a:ext cx="1097280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0B145A"/>
                </a:solidFill>
                <a:latin typeface="맑은 고딕"/>
                <a:ea typeface="맑은 고딕"/>
                <a:cs typeface="맑은 고딕"/>
              </a:rPr>
              <a:t>왜 필요한가요?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55664"/>
            <a:ext cx="64008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대외비 ·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6455664"/>
            <a:ext cx="61264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1428A0"/>
                </a:solidFill>
                <a:latin typeface="맑은 고딕"/>
                <a:ea typeface="맑은 고딕"/>
                <a:cs typeface="맑은 고딕"/>
              </a:rPr>
              <a:t>SAMSUNG </a:t>
            </a:r>
            <a:r>
              <a:rPr sz="9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DS  |  인사팀 대상 설명자료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371600"/>
            <a:ext cx="1106424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인사 데이터에는 </a:t>
            </a:r>
            <a:r>
              <a:rPr sz="1800" b="1">
                <a:solidFill>
                  <a:srgbClr val="D64541"/>
                </a:solidFill>
                <a:latin typeface="맑은 고딕"/>
                <a:ea typeface="맑은 고딕"/>
                <a:cs typeface="맑은 고딕"/>
              </a:rPr>
              <a:t>가장 민감한 개인정보</a:t>
            </a:r>
            <a:r>
              <a:rPr sz="18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가 들어 있습니다.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57400"/>
            <a:ext cx="2057400" cy="914400"/>
          </a:xfrm>
          <a:prstGeom prst="roundRect">
            <a:avLst/>
          </a:prstGeom>
          <a:solidFill>
            <a:srgbClr val="E8ED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500" b="1">
                <a:solidFill>
                  <a:srgbClr val="1428A0"/>
                </a:solidFill>
                <a:latin typeface="맑은 고딕"/>
                <a:ea typeface="맑은 고딕"/>
                <a:cs typeface="맑은 고딕"/>
              </a:rPr>
              <a:t>연봉·급여</a:t>
            </a:r>
          </a:p>
          <a:p>
            <a:pPr algn="ctr"/>
            <a:r>
              <a:rPr sz="11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급여대장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1488" y="2057400"/>
            <a:ext cx="2057400" cy="914400"/>
          </a:xfrm>
          <a:prstGeom prst="roundRect">
            <a:avLst/>
          </a:prstGeom>
          <a:solidFill>
            <a:srgbClr val="E8ED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500" b="1">
                <a:solidFill>
                  <a:srgbClr val="1428A0"/>
                </a:solidFill>
                <a:latin typeface="맑은 고딕"/>
                <a:ea typeface="맑은 고딕"/>
                <a:cs typeface="맑은 고딕"/>
              </a:rPr>
              <a:t>주민등록번호</a:t>
            </a:r>
          </a:p>
          <a:p>
            <a:pPr algn="ctr"/>
            <a:r>
              <a:rPr sz="11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신원 정보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74336" y="2057400"/>
            <a:ext cx="2057400" cy="914400"/>
          </a:xfrm>
          <a:prstGeom prst="roundRect">
            <a:avLst/>
          </a:prstGeom>
          <a:solidFill>
            <a:srgbClr val="E8ED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500" b="1">
                <a:solidFill>
                  <a:srgbClr val="1428A0"/>
                </a:solidFill>
                <a:latin typeface="맑은 고딕"/>
                <a:ea typeface="맑은 고딕"/>
                <a:cs typeface="맑은 고딕"/>
              </a:rPr>
              <a:t>계좌번호</a:t>
            </a:r>
          </a:p>
          <a:p>
            <a:pPr algn="ctr"/>
            <a:r>
              <a:rPr sz="11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급여 이체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87183" y="2057400"/>
            <a:ext cx="2057400" cy="914400"/>
          </a:xfrm>
          <a:prstGeom prst="roundRect">
            <a:avLst/>
          </a:prstGeom>
          <a:solidFill>
            <a:srgbClr val="E8ED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500" b="1">
                <a:solidFill>
                  <a:srgbClr val="1428A0"/>
                </a:solidFill>
                <a:latin typeface="맑은 고딕"/>
                <a:ea typeface="맑은 고딕"/>
                <a:cs typeface="맑은 고딕"/>
              </a:rPr>
              <a:t>전화·이메일</a:t>
            </a:r>
          </a:p>
          <a:p>
            <a:pPr algn="ctr"/>
            <a:r>
              <a:rPr sz="11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연락처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400032" y="2057400"/>
            <a:ext cx="2057400" cy="914400"/>
          </a:xfrm>
          <a:prstGeom prst="roundRect">
            <a:avLst/>
          </a:prstGeom>
          <a:solidFill>
            <a:srgbClr val="E8ED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500" b="1">
                <a:solidFill>
                  <a:srgbClr val="1428A0"/>
                </a:solidFill>
                <a:latin typeface="맑은 고딕"/>
                <a:ea typeface="맑은 고딕"/>
                <a:cs typeface="맑은 고딕"/>
              </a:rPr>
              <a:t>근태</a:t>
            </a:r>
          </a:p>
          <a:p>
            <a:pPr algn="ctr"/>
            <a:r>
              <a:rPr sz="11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지각·결근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429000"/>
            <a:ext cx="1106424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그런데 이 데이터로 </a:t>
            </a:r>
            <a:r>
              <a:rPr sz="1800" b="1">
                <a:solidFill>
                  <a:srgbClr val="1428A0"/>
                </a:solidFill>
                <a:latin typeface="맑은 고딕"/>
                <a:ea typeface="맑은 고딕"/>
                <a:cs typeface="맑은 고딕"/>
              </a:rPr>
              <a:t>AI에게 안내문·통지·리포트</a:t>
            </a:r>
            <a:r>
              <a:rPr sz="18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를 맡기려면?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114800"/>
            <a:ext cx="11091672" cy="1737360"/>
          </a:xfrm>
          <a:prstGeom prst="roundRect">
            <a:avLst/>
          </a:prstGeom>
          <a:solidFill>
            <a:srgbClr val="FDF1F0"/>
          </a:solidFill>
          <a:ln w="12700">
            <a:solidFill>
              <a:srgbClr val="D645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l"/>
            <a:r>
              <a:rPr sz="1800" b="1">
                <a:solidFill>
                  <a:srgbClr val="D64541"/>
                </a:solidFill>
                <a:latin typeface="맑은 고딕"/>
                <a:ea typeface="맑은 고딕"/>
                <a:cs typeface="맑은 고딕"/>
              </a:rPr>
              <a:t>⚠  위험: 원본을 그대로 AI에 넣으면 민감정보가 모델에 노출됩니다</a:t>
            </a:r>
          </a:p>
          <a:p>
            <a:pPr algn="l"/>
            <a:r>
              <a:rPr sz="1400" b="0">
                <a:solidFill>
                  <a:srgbClr val="6B7280"/>
                </a:solidFill>
                <a:latin typeface="Consolas"/>
                <a:ea typeface="Consolas"/>
                <a:cs typeface="Consolas"/>
              </a:rPr>
              <a:t>최민준 · 770324-1809570 · 5,350만원 · 신한 617-1434-688508 …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한 번 노출된 개인정보는 되돌릴 수 없고, 유출 시 법적·평판 리스크가 큽니다.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4114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0584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E5CD0"/>
                </a:solidFill>
                <a:latin typeface="맑은 고딕"/>
                <a:ea typeface="맑은 고딕"/>
                <a:cs typeface="맑은 고딕"/>
              </a:rPr>
              <a:t>개념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"/>
            <a:ext cx="1097280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0B145A"/>
                </a:solidFill>
                <a:latin typeface="맑은 고딕"/>
                <a:ea typeface="맑은 고딕"/>
                <a:cs typeface="맑은 고딕"/>
              </a:rPr>
              <a:t>한 장 요약: 무엇인가요?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55664"/>
            <a:ext cx="64008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대외비 ·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6455664"/>
            <a:ext cx="61264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1428A0"/>
                </a:solidFill>
                <a:latin typeface="맑은 고딕"/>
                <a:ea typeface="맑은 고딕"/>
                <a:cs typeface="맑은 고딕"/>
              </a:rPr>
              <a:t>SAMSUNG </a:t>
            </a:r>
            <a:r>
              <a:rPr sz="9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DS  |  인사팀 대상 설명자료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371600"/>
            <a:ext cx="11091672" cy="1234440"/>
          </a:xfrm>
          <a:prstGeom prst="round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민감한 값을 ‘대리 번호표(토큰)’로 바꿔 AI에 보여주고,</a:t>
            </a:r>
          </a:p>
          <a:p>
            <a:pPr algn="ctr"/>
            <a:r>
              <a:rPr sz="1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작업이 끝나면 담당자 키로만 원래 값을 되돌려 주는 안전 통로입니다.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880360"/>
            <a:ext cx="109728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E5CD0"/>
                </a:solidFill>
                <a:latin typeface="맑은 고딕"/>
                <a:ea typeface="맑은 고딕"/>
                <a:cs typeface="맑은 고딕"/>
              </a:rPr>
              <a:t>🔐  은행 금고에 비유하면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291840"/>
            <a:ext cx="3520440" cy="2286000"/>
          </a:xfrm>
          <a:prstGeom prst="roundRect">
            <a:avLst/>
          </a:prstGeom>
          <a:solidFill>
            <a:srgbClr val="F4F6FB"/>
          </a:solidFill>
          <a:ln w="12700">
            <a:solidFill>
              <a:srgbClr val="E2E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77240" y="3520440"/>
            <a:ext cx="548640" cy="548640"/>
          </a:xfrm>
          <a:prstGeom prst="ellipse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251960"/>
            <a:ext cx="31089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B145A"/>
                </a:solidFill>
                <a:latin typeface="맑은 고딕"/>
                <a:ea typeface="맑은 고딕"/>
                <a:cs typeface="맑은 고딕"/>
              </a:rPr>
              <a:t>금고에 보관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709160"/>
            <a:ext cx="310896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원본 민감정보는 암호화해 ‘금고(vault)’에 넣습니다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42816" y="3291840"/>
            <a:ext cx="3520440" cy="2286000"/>
          </a:xfrm>
          <a:prstGeom prst="roundRect">
            <a:avLst/>
          </a:prstGeom>
          <a:solidFill>
            <a:srgbClr val="F4F6FB"/>
          </a:solidFill>
          <a:ln w="12700">
            <a:solidFill>
              <a:srgbClr val="E2E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471416" y="3520440"/>
            <a:ext cx="548640" cy="548640"/>
          </a:xfrm>
          <a:prstGeom prst="ellipse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71416" y="4251960"/>
            <a:ext cx="31089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B145A"/>
                </a:solidFill>
                <a:latin typeface="맑은 고딕"/>
                <a:ea typeface="맑은 고딕"/>
                <a:cs typeface="맑은 고딕"/>
              </a:rPr>
              <a:t>번호표로 작업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71416" y="4709160"/>
            <a:ext cx="310896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AI는 실제 값 대신 번호표(토큰)만 보고 일합니다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36992" y="3291840"/>
            <a:ext cx="3520440" cy="2286000"/>
          </a:xfrm>
          <a:prstGeom prst="roundRect">
            <a:avLst/>
          </a:prstGeom>
          <a:solidFill>
            <a:srgbClr val="F4F6FB"/>
          </a:solidFill>
          <a:ln w="12700">
            <a:solidFill>
              <a:srgbClr val="E2E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165592" y="3520440"/>
            <a:ext cx="548640" cy="548640"/>
          </a:xfrm>
          <a:prstGeom prst="ellipse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65592" y="4251960"/>
            <a:ext cx="31089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B145A"/>
                </a:solidFill>
                <a:latin typeface="맑은 고딕"/>
                <a:ea typeface="맑은 고딕"/>
                <a:cs typeface="맑은 고딕"/>
              </a:rPr>
              <a:t>열쇠 가진 사람만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65592" y="4709160"/>
            <a:ext cx="310896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담당자 키가 있어야 원본을 꺼내볼 수 있습니다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4114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0584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E5CD0"/>
                </a:solidFill>
                <a:latin typeface="맑은 고딕"/>
                <a:ea typeface="맑은 고딕"/>
                <a:cs typeface="맑은 고딕"/>
              </a:rPr>
              <a:t>동작 원리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"/>
            <a:ext cx="1097280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0B145A"/>
                </a:solidFill>
                <a:latin typeface="맑은 고딕"/>
                <a:ea typeface="맑은 고딕"/>
                <a:cs typeface="맑은 고딕"/>
              </a:rPr>
              <a:t>어떻게 동작하나요? — 3단계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55664"/>
            <a:ext cx="64008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대외비 ·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6455664"/>
            <a:ext cx="61264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1428A0"/>
                </a:solidFill>
                <a:latin typeface="맑은 고딕"/>
                <a:ea typeface="맑은 고딕"/>
                <a:cs typeface="맑은 고딕"/>
              </a:rPr>
              <a:t>SAMSUNG </a:t>
            </a:r>
            <a:r>
              <a:rPr sz="9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DS  |  인사팀 대상 설명자료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554480"/>
            <a:ext cx="3611880" cy="3383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42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1554480"/>
            <a:ext cx="3611880" cy="640080"/>
          </a:xfrm>
          <a:prstGeom prst="round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627632"/>
            <a:ext cx="36118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1. 보호 (Protect)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2423160"/>
            <a:ext cx="3063240" cy="11887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원본 → 토큰</a:t>
            </a:r>
          </a:p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원본은 키로 암호화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886200"/>
            <a:ext cx="3154680" cy="868680"/>
          </a:xfrm>
          <a:prstGeom prst="roundRect">
            <a:avLst/>
          </a:prstGeom>
          <a:solidFill>
            <a:srgbClr val="E8ED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100" b="0">
                <a:solidFill>
                  <a:srgbClr val="0B145A"/>
                </a:solidFill>
                <a:latin typeface="Consolas"/>
                <a:ea typeface="Consolas"/>
                <a:cs typeface="Consolas"/>
              </a:rPr>
              <a:t>5,350만원  →  [[SALARY:3f9a2c1d]]</a:t>
            </a:r>
          </a:p>
        </p:txBody>
      </p:sp>
      <p:sp>
        <p:nvSpPr>
          <p:cNvPr id="13" name="Chevron 12"/>
          <p:cNvSpPr/>
          <p:nvPr/>
        </p:nvSpPr>
        <p:spPr>
          <a:xfrm>
            <a:off x="4187952" y="2971800"/>
            <a:ext cx="310896" cy="548640"/>
          </a:xfrm>
          <a:prstGeom prst="chevron">
            <a:avLst/>
          </a:prstGeom>
          <a:solidFill>
            <a:srgbClr val="3E5C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26279" y="1554480"/>
            <a:ext cx="3611880" cy="3383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42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26279" y="1554480"/>
            <a:ext cx="3611880" cy="640080"/>
          </a:xfrm>
          <a:prstGeom prst="round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79" y="1627632"/>
            <a:ext cx="36118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2. 작업 (Work)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0599" y="2423160"/>
            <a:ext cx="3063240" cy="11887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AI는 토큰만 보고</a:t>
            </a:r>
          </a:p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안내문·통지·리포트 작성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54879" y="3886200"/>
            <a:ext cx="3154680" cy="868680"/>
          </a:xfrm>
          <a:prstGeom prst="roundRect">
            <a:avLst/>
          </a:prstGeom>
          <a:solidFill>
            <a:srgbClr val="E8ED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100" b="0">
                <a:solidFill>
                  <a:srgbClr val="0B145A"/>
                </a:solidFill>
                <a:latin typeface="Consolas"/>
                <a:ea typeface="Consolas"/>
                <a:cs typeface="Consolas"/>
              </a:rPr>
              <a:t>“[[NAME]]님의 연봉은 [[SALARY]]…”</a:t>
            </a:r>
          </a:p>
        </p:txBody>
      </p:sp>
      <p:sp>
        <p:nvSpPr>
          <p:cNvPr id="19" name="Chevron 18"/>
          <p:cNvSpPr/>
          <p:nvPr/>
        </p:nvSpPr>
        <p:spPr>
          <a:xfrm>
            <a:off x="8165592" y="2971800"/>
            <a:ext cx="310896" cy="548640"/>
          </a:xfrm>
          <a:prstGeom prst="chevron">
            <a:avLst/>
          </a:prstGeom>
          <a:solidFill>
            <a:srgbClr val="3E5C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503919" y="1554480"/>
            <a:ext cx="3611880" cy="3383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42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503919" y="1554480"/>
            <a:ext cx="3611880" cy="640080"/>
          </a:xfrm>
          <a:prstGeom prst="round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03919" y="1627632"/>
            <a:ext cx="36118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3. 복원 (Reveal)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0" y="2423160"/>
            <a:ext cx="3063240" cy="11887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담당자 키로 토큰 →</a:t>
            </a:r>
          </a:p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원본 (인가자만)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732519" y="3886200"/>
            <a:ext cx="3154680" cy="868680"/>
          </a:xfrm>
          <a:prstGeom prst="roundRect">
            <a:avLst/>
          </a:prstGeom>
          <a:solidFill>
            <a:srgbClr val="E8ED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100" b="0">
                <a:solidFill>
                  <a:srgbClr val="0B145A"/>
                </a:solidFill>
                <a:latin typeface="Consolas"/>
                <a:ea typeface="Consolas"/>
                <a:cs typeface="Consolas"/>
              </a:rPr>
              <a:t>[[SALARY:3f9a2c1d]]  →  5,350만원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5257800"/>
            <a:ext cx="11091672" cy="777240"/>
          </a:xfrm>
          <a:prstGeom prst="roundRect">
            <a:avLst/>
          </a:prstGeom>
          <a:solidFill>
            <a:srgbClr val="E8ED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5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핵심: 작업 중 AI 화면(중간본)에는 </a:t>
            </a:r>
            <a:r>
              <a:rPr sz="1500" b="1">
                <a:solidFill>
                  <a:srgbClr val="1428A0"/>
                </a:solidFill>
                <a:latin typeface="맑은 고딕"/>
                <a:ea typeface="맑은 고딕"/>
                <a:cs typeface="맑은 고딕"/>
              </a:rPr>
              <a:t>실제 값이 단 한 번도 등장하지 않습니다.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4114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0584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E5CD0"/>
                </a:solidFill>
                <a:latin typeface="맑은 고딕"/>
                <a:ea typeface="맑은 고딕"/>
                <a:cs typeface="맑은 고딕"/>
              </a:rPr>
              <a:t>보호 범위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"/>
            <a:ext cx="1097280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0B145A"/>
                </a:solidFill>
                <a:latin typeface="맑은 고딕"/>
                <a:ea typeface="맑은 고딕"/>
                <a:cs typeface="맑은 고딕"/>
              </a:rPr>
              <a:t>무엇을, 어디까지 보호하나요?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55664"/>
            <a:ext cx="64008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대외비 ·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6455664"/>
            <a:ext cx="61264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1428A0"/>
                </a:solidFill>
                <a:latin typeface="맑은 고딕"/>
                <a:ea typeface="맑은 고딕"/>
                <a:cs typeface="맑은 고딕"/>
              </a:rPr>
              <a:t>SAMSUNG </a:t>
            </a:r>
            <a:r>
              <a:rPr sz="9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DS  |  인사팀 대상 설명자료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325880"/>
            <a:ext cx="109728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B145A"/>
                </a:solidFill>
                <a:latin typeface="맑은 고딕"/>
                <a:ea typeface="맑은 고딕"/>
                <a:cs typeface="맑은 고딕"/>
              </a:rPr>
              <a:t>자동으로 찾아 가리는 민감정보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783080"/>
            <a:ext cx="2103120" cy="384048"/>
          </a:xfrm>
          <a:prstGeom prst="roundRect">
            <a:avLst/>
          </a:prstGeom>
          <a:solidFill>
            <a:srgbClr val="E8ED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200" b="1">
                <a:solidFill>
                  <a:srgbClr val="1428A0"/>
                </a:solidFill>
                <a:latin typeface="맑은 고딕"/>
                <a:ea typeface="맑은 고딕"/>
                <a:cs typeface="맑은 고딕"/>
              </a:rPr>
              <a:t>주민등록번호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88920" y="1783080"/>
            <a:ext cx="2103120" cy="384048"/>
          </a:xfrm>
          <a:prstGeom prst="roundRect">
            <a:avLst/>
          </a:prstGeom>
          <a:solidFill>
            <a:srgbClr val="E8ED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200" b="1">
                <a:solidFill>
                  <a:srgbClr val="1428A0"/>
                </a:solidFill>
                <a:latin typeface="맑은 고딕"/>
                <a:ea typeface="맑은 고딕"/>
                <a:cs typeface="맑은 고딕"/>
              </a:rPr>
              <a:t>연봉·급여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0" y="1783080"/>
            <a:ext cx="2103120" cy="384048"/>
          </a:xfrm>
          <a:prstGeom prst="roundRect">
            <a:avLst/>
          </a:prstGeom>
          <a:solidFill>
            <a:srgbClr val="E8ED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200" b="1">
                <a:solidFill>
                  <a:srgbClr val="1428A0"/>
                </a:solidFill>
                <a:latin typeface="맑은 고딕"/>
                <a:ea typeface="맑은 고딕"/>
                <a:cs typeface="맑은 고딕"/>
              </a:rPr>
              <a:t>계좌번호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69480" y="1783080"/>
            <a:ext cx="2103120" cy="384048"/>
          </a:xfrm>
          <a:prstGeom prst="roundRect">
            <a:avLst/>
          </a:prstGeom>
          <a:solidFill>
            <a:srgbClr val="E8ED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200" b="1">
                <a:solidFill>
                  <a:srgbClr val="1428A0"/>
                </a:solidFill>
                <a:latin typeface="맑은 고딕"/>
                <a:ea typeface="맑은 고딕"/>
                <a:cs typeface="맑은 고딕"/>
              </a:rPr>
              <a:t>전화번호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09760" y="1783080"/>
            <a:ext cx="2103120" cy="384048"/>
          </a:xfrm>
          <a:prstGeom prst="roundRect">
            <a:avLst/>
          </a:prstGeom>
          <a:solidFill>
            <a:srgbClr val="E8ED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200" b="1">
                <a:solidFill>
                  <a:srgbClr val="1428A0"/>
                </a:solidFill>
                <a:latin typeface="맑은 고딕"/>
                <a:ea typeface="맑은 고딕"/>
                <a:cs typeface="맑은 고딕"/>
              </a:rPr>
              <a:t>이메일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286000"/>
            <a:ext cx="2103120" cy="384048"/>
          </a:xfrm>
          <a:prstGeom prst="roundRect">
            <a:avLst/>
          </a:prstGeom>
          <a:solidFill>
            <a:srgbClr val="E8ED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200" b="1">
                <a:solidFill>
                  <a:srgbClr val="1428A0"/>
                </a:solidFill>
                <a:latin typeface="맑은 고딕"/>
                <a:ea typeface="맑은 고딕"/>
                <a:cs typeface="맑은 고딕"/>
              </a:rPr>
              <a:t>카드번호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88920" y="2286000"/>
            <a:ext cx="2103120" cy="384048"/>
          </a:xfrm>
          <a:prstGeom prst="roundRect">
            <a:avLst/>
          </a:prstGeom>
          <a:solidFill>
            <a:srgbClr val="E8ED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200" b="1">
                <a:solidFill>
                  <a:srgbClr val="1428A0"/>
                </a:solidFill>
                <a:latin typeface="맑은 고딕"/>
                <a:ea typeface="맑은 고딕"/>
                <a:cs typeface="맑은 고딕"/>
              </a:rPr>
              <a:t>사업자등록번호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0" y="2286000"/>
            <a:ext cx="2103120" cy="384048"/>
          </a:xfrm>
          <a:prstGeom prst="roundRect">
            <a:avLst/>
          </a:prstGeom>
          <a:solidFill>
            <a:srgbClr val="E8ED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200" b="1">
                <a:solidFill>
                  <a:srgbClr val="1428A0"/>
                </a:solidFill>
                <a:latin typeface="맑은 고딕"/>
                <a:ea typeface="맑은 고딕"/>
                <a:cs typeface="맑은 고딕"/>
              </a:rPr>
              <a:t>IP 주소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69480" y="2286000"/>
            <a:ext cx="2103120" cy="384048"/>
          </a:xfrm>
          <a:prstGeom prst="roundRect">
            <a:avLst/>
          </a:prstGeom>
          <a:solidFill>
            <a:srgbClr val="E8ED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200" b="1">
                <a:solidFill>
                  <a:srgbClr val="1428A0"/>
                </a:solidFill>
                <a:latin typeface="맑은 고딕"/>
                <a:ea typeface="맑은 고딕"/>
                <a:cs typeface="맑은 고딕"/>
              </a:rPr>
              <a:t>직원 이름(명부)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971800"/>
            <a:ext cx="109728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B145A"/>
                </a:solidFill>
                <a:latin typeface="맑은 고딕"/>
                <a:ea typeface="맑은 고딕"/>
                <a:cs typeface="맑은 고딕"/>
              </a:rPr>
              <a:t>네 가지 방식으로 빠짐없이 탐지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429000"/>
            <a:ext cx="5440680" cy="841248"/>
          </a:xfrm>
          <a:prstGeom prst="roundRect">
            <a:avLst/>
          </a:prstGeom>
          <a:solidFill>
            <a:srgbClr val="F4F6FB"/>
          </a:solidFill>
          <a:ln w="12700">
            <a:solidFill>
              <a:srgbClr val="E2E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3520440"/>
            <a:ext cx="219456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28A0"/>
                </a:solidFill>
                <a:latin typeface="맑은 고딕"/>
                <a:ea typeface="맑은 고딕"/>
                <a:cs typeface="맑은 고딕"/>
              </a:rPr>
              <a:t>① 컬럼 이름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34640" y="3520440"/>
            <a:ext cx="301752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‘연봉’, ‘주민번호’ 같은 열을 인식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3429000"/>
            <a:ext cx="5440680" cy="841248"/>
          </a:xfrm>
          <a:prstGeom prst="roundRect">
            <a:avLst/>
          </a:prstGeom>
          <a:solidFill>
            <a:srgbClr val="F4F6FB"/>
          </a:solidFill>
          <a:ln w="12700">
            <a:solidFill>
              <a:srgbClr val="E2E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3520440"/>
            <a:ext cx="219456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28A0"/>
                </a:solidFill>
                <a:latin typeface="맑은 고딕"/>
                <a:ea typeface="맑은 고딕"/>
                <a:cs typeface="맑은 고딕"/>
              </a:rPr>
              <a:t>② 컬럼 형태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58200" y="3520440"/>
            <a:ext cx="301752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이름이 달라도 값 모양으로 자동 판별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389120"/>
            <a:ext cx="5440680" cy="841248"/>
          </a:xfrm>
          <a:prstGeom prst="roundRect">
            <a:avLst/>
          </a:prstGeom>
          <a:solidFill>
            <a:srgbClr val="F4F6FB"/>
          </a:solidFill>
          <a:ln w="12700">
            <a:solidFill>
              <a:srgbClr val="E2E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4480559"/>
            <a:ext cx="219456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28A0"/>
                </a:solidFill>
                <a:latin typeface="맑은 고딕"/>
                <a:ea typeface="맑은 고딕"/>
                <a:cs typeface="맑은 고딕"/>
              </a:rPr>
              <a:t>③ 값 모양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34640" y="4480559"/>
            <a:ext cx="301752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문장 속에 섞인 번호·연락처도 탐지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200" y="4389120"/>
            <a:ext cx="5440680" cy="841248"/>
          </a:xfrm>
          <a:prstGeom prst="roundRect">
            <a:avLst/>
          </a:prstGeom>
          <a:solidFill>
            <a:srgbClr val="F4F6FB"/>
          </a:solidFill>
          <a:ln w="12700">
            <a:solidFill>
              <a:srgbClr val="E2E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4480559"/>
            <a:ext cx="219456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28A0"/>
                </a:solidFill>
                <a:latin typeface="맑은 고딕"/>
                <a:ea typeface="맑은 고딕"/>
                <a:cs typeface="맑은 고딕"/>
              </a:rPr>
              <a:t>④ 명부 이름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58200" y="4480559"/>
            <a:ext cx="301752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담당자 명부의 직원 이름을 정확히 가림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5440680"/>
            <a:ext cx="11091672" cy="594360"/>
          </a:xfrm>
          <a:prstGeom prst="roundRect">
            <a:avLst/>
          </a:prstGeom>
          <a:solidFill>
            <a:srgbClr val="E8ED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4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엑셀·CSV 명부뿐 아니라 </a:t>
            </a:r>
            <a:r>
              <a:rPr sz="1400" b="1">
                <a:solidFill>
                  <a:srgbClr val="1428A0"/>
                </a:solidFill>
                <a:latin typeface="맑은 고딕"/>
                <a:ea typeface="맑은 고딕"/>
                <a:cs typeface="맑은 고딕"/>
              </a:rPr>
              <a:t>메모·이메일 초안 같은 문서(.txt/.md)</a:t>
            </a:r>
            <a:r>
              <a:rPr sz="14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도 그대로 보호됩니다.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4114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0584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E5CD0"/>
                </a:solidFill>
                <a:latin typeface="맑은 고딕"/>
                <a:ea typeface="맑은 고딕"/>
                <a:cs typeface="맑은 고딕"/>
              </a:rPr>
              <a:t>기대 효과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"/>
            <a:ext cx="1097280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0B145A"/>
                </a:solidFill>
                <a:latin typeface="맑은 고딕"/>
                <a:ea typeface="맑은 고딕"/>
                <a:cs typeface="맑은 고딕"/>
              </a:rPr>
              <a:t>인사팀에게 무엇이 좋은가요?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55664"/>
            <a:ext cx="64008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대외비 ·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6455664"/>
            <a:ext cx="61264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1428A0"/>
                </a:solidFill>
                <a:latin typeface="맑은 고딕"/>
                <a:ea typeface="맑은 고딕"/>
                <a:cs typeface="맑은 고딕"/>
              </a:rPr>
              <a:t>SAMSUNG </a:t>
            </a:r>
            <a:r>
              <a:rPr sz="9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DS  |  인사팀 대상 설명자료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554480"/>
            <a:ext cx="265176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508760" y="1783080"/>
            <a:ext cx="731520" cy="731520"/>
          </a:xfrm>
          <a:prstGeom prst="ellipse">
            <a:avLst/>
          </a:prstGeom>
          <a:solidFill>
            <a:srgbClr val="E8ED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2400" b="0">
                <a:solidFill>
                  <a:srgbClr val="1428A0"/>
                </a:solidFill>
                <a:latin typeface="맑은 고딕"/>
                <a:ea typeface="맑은 고딕"/>
                <a:cs typeface="맑은 고딕"/>
              </a:rPr>
              <a:t>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06040"/>
            <a:ext cx="265176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B145A"/>
                </a:solidFill>
                <a:latin typeface="맑은 고딕"/>
                <a:ea typeface="맑은 고딕"/>
                <a:cs typeface="맑은 고딕"/>
              </a:rPr>
              <a:t>안전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017520"/>
            <a:ext cx="228600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5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민감정보가 AI에 0건 노출.</a:t>
            </a:r>
          </a:p>
          <a:p>
            <a:pPr algn="ctr">
              <a:lnSpc>
                <a:spcPct val="110000"/>
              </a:lnSpc>
            </a:pPr>
            <a:r>
              <a:rPr sz="125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유출 리스크를 원천 차단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46704" y="1554480"/>
            <a:ext cx="265176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306824" y="1783080"/>
            <a:ext cx="731520" cy="731520"/>
          </a:xfrm>
          <a:prstGeom prst="ellipse">
            <a:avLst/>
          </a:prstGeom>
          <a:solidFill>
            <a:srgbClr val="E8ED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2400" b="0">
                <a:solidFill>
                  <a:srgbClr val="1428A0"/>
                </a:solidFill>
                <a:latin typeface="맑은 고딕"/>
                <a:ea typeface="맑은 고딕"/>
                <a:cs typeface="맑은 고딕"/>
              </a:rPr>
              <a:t>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46704" y="2606040"/>
            <a:ext cx="265176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B145A"/>
                </a:solidFill>
                <a:latin typeface="맑은 고딕"/>
                <a:ea typeface="맑은 고딕"/>
                <a:cs typeface="맑은 고딕"/>
              </a:rPr>
              <a:t>간편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9584" y="3017520"/>
            <a:ext cx="228600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5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평소처럼 안내문·통지문 작성.</a:t>
            </a:r>
          </a:p>
          <a:p>
            <a:pPr algn="ctr">
              <a:lnSpc>
                <a:spcPct val="110000"/>
              </a:lnSpc>
            </a:pPr>
            <a:r>
              <a:rPr sz="125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보호는 도구가 알아서 처리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44768" y="1554480"/>
            <a:ext cx="265176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104888" y="1783080"/>
            <a:ext cx="731520" cy="731520"/>
          </a:xfrm>
          <a:prstGeom prst="ellipse">
            <a:avLst/>
          </a:prstGeom>
          <a:solidFill>
            <a:srgbClr val="E8ED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2400" b="0">
                <a:solidFill>
                  <a:srgbClr val="1428A0"/>
                </a:solidFill>
                <a:latin typeface="맑은 고딕"/>
                <a:ea typeface="맑은 고딕"/>
                <a:cs typeface="맑은 고딕"/>
              </a:rPr>
              <a:t>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44768" y="2606040"/>
            <a:ext cx="265176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B145A"/>
                </a:solidFill>
                <a:latin typeface="맑은 고딕"/>
                <a:ea typeface="맑은 고딕"/>
                <a:cs typeface="맑은 고딕"/>
              </a:rPr>
              <a:t>되돌림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27648" y="3017520"/>
            <a:ext cx="228600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5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담당자 키로만 원복.</a:t>
            </a:r>
          </a:p>
          <a:p>
            <a:pPr algn="ctr">
              <a:lnSpc>
                <a:spcPct val="110000"/>
              </a:lnSpc>
            </a:pPr>
            <a:r>
              <a:rPr sz="125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키 없으면 복원 불가 = 접근통제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42832" y="1554480"/>
            <a:ext cx="265176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02952" y="1783080"/>
            <a:ext cx="731520" cy="731520"/>
          </a:xfrm>
          <a:prstGeom prst="ellipse">
            <a:avLst/>
          </a:prstGeom>
          <a:solidFill>
            <a:srgbClr val="E8ED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2400" b="0">
                <a:solidFill>
                  <a:srgbClr val="1428A0"/>
                </a:solidFill>
                <a:latin typeface="맑은 고딕"/>
                <a:ea typeface="맑은 고딕"/>
                <a:cs typeface="맑은 고딕"/>
              </a:rPr>
              <a:t>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42832" y="2606040"/>
            <a:ext cx="265176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B145A"/>
                </a:solidFill>
                <a:latin typeface="맑은 고딕"/>
                <a:ea typeface="맑은 고딕"/>
                <a:cs typeface="맑은 고딕"/>
              </a:rPr>
              <a:t>효율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25711" y="3017520"/>
            <a:ext cx="228600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5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대규모에선 토큰도 더 적게 사용</a:t>
            </a:r>
          </a:p>
          <a:p>
            <a:pPr algn="ctr">
              <a:lnSpc>
                <a:spcPct val="110000"/>
              </a:lnSpc>
            </a:pPr>
            <a:r>
              <a:rPr sz="125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(원본 전체를 읽지 않으므로)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434840"/>
            <a:ext cx="11091672" cy="1508760"/>
          </a:xfrm>
          <a:prstGeom prst="round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400" b="1">
                <a:solidFill>
                  <a:srgbClr val="C8D3F5"/>
                </a:solidFill>
                <a:latin typeface="맑은 고딕"/>
                <a:ea typeface="맑은 고딕"/>
                <a:cs typeface="맑은 고딕"/>
              </a:rPr>
              <a:t>검증 결과 (동일 과제 비교)</a:t>
            </a:r>
          </a:p>
          <a:p>
            <a:pPr algn="ctr"/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게이트웨이 사용 100%  vs  미사용 62.5%</a:t>
            </a:r>
          </a:p>
          <a:p>
            <a:pPr algn="ctr"/>
            <a:r>
              <a:rPr sz="1300" b="0">
                <a:solidFill>
                  <a:srgbClr val="D7DEF7"/>
                </a:solidFill>
                <a:latin typeface="맑은 고딕"/>
                <a:ea typeface="맑은 고딕"/>
                <a:cs typeface="맑은 고딕"/>
              </a:rPr>
              <a:t>개인 안내·통지 작업에서 미사용은 매번 실제 PII가 노출 — 게이트웨이는 누출 0 유지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4114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0584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E5CD0"/>
                </a:solidFill>
                <a:latin typeface="맑은 고딕"/>
                <a:ea typeface="맑은 고딕"/>
                <a:cs typeface="맑은 고딕"/>
              </a:rPr>
              <a:t>사용 예시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"/>
            <a:ext cx="1097280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0B145A"/>
                </a:solidFill>
                <a:latin typeface="맑은 고딕"/>
                <a:ea typeface="맑은 고딕"/>
                <a:cs typeface="맑은 고딕"/>
              </a:rPr>
              <a:t>실제로 이렇게 쓰입니다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55664"/>
            <a:ext cx="64008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대외비 ·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6455664"/>
            <a:ext cx="61264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1428A0"/>
                </a:solidFill>
                <a:latin typeface="맑은 고딕"/>
                <a:ea typeface="맑은 고딕"/>
                <a:cs typeface="맑은 고딕"/>
              </a:rPr>
              <a:t>SAMSUNG </a:t>
            </a:r>
            <a:r>
              <a:rPr sz="9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DS  |  인사팀 대상 설명자료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325880"/>
            <a:ext cx="109728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예) 사번 E0007 직원에게 </a:t>
            </a:r>
            <a:r>
              <a:rPr sz="1600" b="1">
                <a:solidFill>
                  <a:srgbClr val="1428A0"/>
                </a:solidFill>
                <a:latin typeface="맑은 고딕"/>
                <a:ea typeface="맑은 고딕"/>
                <a:cs typeface="맑은 고딕"/>
              </a:rPr>
              <a:t>2026년 연봉 안내 메일</a:t>
            </a:r>
            <a:r>
              <a:rPr sz="16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 작성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74519"/>
            <a:ext cx="5440680" cy="3291840"/>
          </a:xfrm>
          <a:prstGeom prst="roundRect">
            <a:avLst/>
          </a:prstGeom>
          <a:solidFill>
            <a:srgbClr val="F4F6FB"/>
          </a:solidFill>
          <a:ln w="12700">
            <a:solidFill>
              <a:srgbClr val="E2E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48640" y="1874519"/>
            <a:ext cx="5440680" cy="548640"/>
          </a:xfrm>
          <a:prstGeom prst="round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38528"/>
            <a:ext cx="544068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AI가 보는 중간본 (토큰)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606040"/>
            <a:ext cx="4937760" cy="24688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222222"/>
                </a:solidFill>
                <a:latin typeface="Consolas"/>
                <a:ea typeface="Consolas"/>
                <a:cs typeface="Consolas"/>
              </a:rPr>
              <a:t>받는사람: [[NAME:369de402]]</a:t>
            </a:r>
          </a:p>
          <a:p>
            <a:pPr algn="l">
              <a:lnSpc>
                <a:spcPct val="115000"/>
              </a:lnSpc>
            </a:pPr>
            <a:r>
              <a:rPr sz="600" b="0">
                <a:solidFill>
                  <a:srgbClr val="222222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222222"/>
                </a:solidFill>
                <a:latin typeface="Consolas"/>
                <a:ea typeface="Consolas"/>
                <a:cs typeface="Consolas"/>
              </a:rPr>
              <a:t>안녕하세요, [[NAME:369de402]]님.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222222"/>
                </a:solidFill>
                <a:latin typeface="Consolas"/>
                <a:ea typeface="Consolas"/>
                <a:cs typeface="Consolas"/>
              </a:rPr>
              <a:t>2026년 확정 연봉은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222222"/>
                </a:solidFill>
                <a:latin typeface="Consolas"/>
                <a:ea typeface="Consolas"/>
                <a:cs typeface="Consolas"/>
              </a:rPr>
              <a:t>[[SALARY:28314826]] 입니다.</a:t>
            </a:r>
          </a:p>
          <a:p>
            <a:pPr algn="l">
              <a:lnSpc>
                <a:spcPct val="115000"/>
              </a:lnSpc>
            </a:pPr>
            <a:r>
              <a:rPr sz="600" b="0">
                <a:solidFill>
                  <a:srgbClr val="222222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250" b="1">
                <a:solidFill>
                  <a:srgbClr val="1A9E5E"/>
                </a:solidFill>
                <a:latin typeface="맑은 고딕"/>
                <a:ea typeface="맑은 고딕"/>
                <a:cs typeface="맑은 고딕"/>
              </a:rPr>
              <a:t>→ 실제 이름·연봉 없음 ✓</a:t>
            </a:r>
          </a:p>
        </p:txBody>
      </p:sp>
      <p:sp>
        <p:nvSpPr>
          <p:cNvPr id="13" name="Chevron 12"/>
          <p:cNvSpPr/>
          <p:nvPr/>
        </p:nvSpPr>
        <p:spPr>
          <a:xfrm>
            <a:off x="6053328" y="3246120"/>
            <a:ext cx="502920" cy="548640"/>
          </a:xfrm>
          <a:prstGeom prst="chevron">
            <a:avLst/>
          </a:prstGeom>
          <a:solidFill>
            <a:srgbClr val="3E5C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0" y="1874519"/>
            <a:ext cx="4965192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42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675120" y="1874519"/>
            <a:ext cx="4965192" cy="548640"/>
          </a:xfrm>
          <a:prstGeom prst="round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5120" y="1938528"/>
            <a:ext cx="4965192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담당자만 보는 최종본 (원본 복원)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2606040"/>
            <a:ext cx="4480560" cy="24688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받는사람: 신다은</a:t>
            </a:r>
          </a:p>
          <a:p>
            <a:pPr algn="l">
              <a:lnSpc>
                <a:spcPct val="115000"/>
              </a:lnSpc>
            </a:pPr>
            <a:r>
              <a:rPr sz="6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안녕하세요, 신다은님.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2026년 확정 연봉은</a:t>
            </a:r>
          </a:p>
          <a:p>
            <a:pPr algn="l">
              <a:lnSpc>
                <a:spcPct val="115000"/>
              </a:lnSpc>
            </a:pPr>
            <a:r>
              <a:rPr sz="125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3,194만원 입니다.</a:t>
            </a:r>
          </a:p>
          <a:p>
            <a:pPr algn="l">
              <a:lnSpc>
                <a:spcPct val="115000"/>
              </a:lnSpc>
            </a:pPr>
            <a:r>
              <a:rPr sz="6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250" b="1">
                <a:solidFill>
                  <a:srgbClr val="1428A0"/>
                </a:solidFill>
                <a:latin typeface="맑은 고딕"/>
                <a:ea typeface="맑은 고딕"/>
                <a:cs typeface="맑은 고딕"/>
              </a:rPr>
              <a:t>→ 인가된 담당자에게만 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349240"/>
            <a:ext cx="109728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같은 방식으로 </a:t>
            </a:r>
            <a:r>
              <a:rPr sz="1400" b="1">
                <a:solidFill>
                  <a:srgbClr val="1428A0"/>
                </a:solidFill>
                <a:latin typeface="맑은 고딕"/>
                <a:ea typeface="맑은 고딕"/>
                <a:cs typeface="맑은 고딕"/>
              </a:rPr>
              <a:t>근태 통지·상여금 입금 안내·부서 리포트</a:t>
            </a:r>
            <a:r>
              <a:rPr sz="14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 등 일상 업무에 그대로 적용됩니다.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4114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0584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E5CD0"/>
                </a:solidFill>
                <a:latin typeface="맑은 고딕"/>
                <a:ea typeface="맑은 고딕"/>
                <a:cs typeface="맑은 고딕"/>
              </a:rPr>
              <a:t>유의사항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"/>
            <a:ext cx="1097280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0B145A"/>
                </a:solidFill>
                <a:latin typeface="맑은 고딕"/>
                <a:ea typeface="맑은 고딕"/>
                <a:cs typeface="맑은 고딕"/>
              </a:rPr>
              <a:t>꼭 알아둘 점 (솔직한 한계)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55664"/>
            <a:ext cx="64008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대외비 ·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6455664"/>
            <a:ext cx="61264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1428A0"/>
                </a:solidFill>
                <a:latin typeface="맑은 고딕"/>
                <a:ea typeface="맑은 고딕"/>
                <a:cs typeface="맑은 고딕"/>
              </a:rPr>
              <a:t>SAMSUNG </a:t>
            </a:r>
            <a:r>
              <a:rPr sz="9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DS  |  인사팀 대상 설명자료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63040"/>
            <a:ext cx="11091672" cy="1051560"/>
          </a:xfrm>
          <a:prstGeom prst="roundRect">
            <a:avLst/>
          </a:prstGeom>
          <a:solidFill>
            <a:srgbClr val="F4F6FB"/>
          </a:solidFill>
          <a:ln w="12700">
            <a:solidFill>
              <a:srgbClr val="E2E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463040"/>
            <a:ext cx="109728" cy="1051560"/>
          </a:xfrm>
          <a:prstGeom prst="rect">
            <a:avLst/>
          </a:prstGeom>
          <a:solidFill>
            <a:srgbClr val="E59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572768"/>
            <a:ext cx="3657600" cy="8686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B145A"/>
                </a:solidFill>
                <a:latin typeface="맑은 고딕"/>
                <a:ea typeface="맑은 고딕"/>
                <a:cs typeface="맑은 고딕"/>
              </a:rPr>
              <a:t>토큰으로는 계산 불가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1572768"/>
            <a:ext cx="6858000" cy="8686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‘평균 연봉’ 같은 집계는 토큰으로 못 합니다. 원본 대상 스크립트로 계산해 결과 숫자만 활용합니다.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670048"/>
            <a:ext cx="11091672" cy="1051560"/>
          </a:xfrm>
          <a:prstGeom prst="roundRect">
            <a:avLst/>
          </a:prstGeom>
          <a:solidFill>
            <a:srgbClr val="F4F6FB"/>
          </a:solidFill>
          <a:ln w="12700">
            <a:solidFill>
              <a:srgbClr val="E2E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2670048"/>
            <a:ext cx="109728" cy="1051560"/>
          </a:xfrm>
          <a:prstGeom prst="rect">
            <a:avLst/>
          </a:prstGeom>
          <a:solidFill>
            <a:srgbClr val="E59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779776"/>
            <a:ext cx="3657600" cy="8686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B145A"/>
                </a:solidFill>
                <a:latin typeface="맑은 고딕"/>
                <a:ea typeface="맑은 고딕"/>
                <a:cs typeface="맑은 고딕"/>
              </a:rPr>
              <a:t>같은 값 = 같은 번호표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779776"/>
            <a:ext cx="6858000" cy="8686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그룹핑이 가능한 대신, 누가 같은 값을 갖는지(동일성)는 드러납니다. 값 자체는 키 없이 복원 불가.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877056"/>
            <a:ext cx="11091672" cy="1051560"/>
          </a:xfrm>
          <a:prstGeom prst="roundRect">
            <a:avLst/>
          </a:prstGeom>
          <a:solidFill>
            <a:srgbClr val="F4F6FB"/>
          </a:solidFill>
          <a:ln w="12700">
            <a:solidFill>
              <a:srgbClr val="E2E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3877056"/>
            <a:ext cx="109728" cy="1051560"/>
          </a:xfrm>
          <a:prstGeom prst="rect">
            <a:avLst/>
          </a:prstGeom>
          <a:solidFill>
            <a:srgbClr val="E59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986784"/>
            <a:ext cx="3657600" cy="8686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B145A"/>
                </a:solidFill>
                <a:latin typeface="맑은 고딕"/>
                <a:ea typeface="맑은 고딕"/>
                <a:cs typeface="맑은 고딕"/>
              </a:rPr>
              <a:t>문장 속 이름은 명부 필요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3986784"/>
            <a:ext cx="6858000" cy="8686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패턴이 없는 ‘이름’은 담당자 명부를 줘야 가립니다. 명부에 없는 외부 인물 이름은 탐지 못 함.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084064"/>
            <a:ext cx="11091672" cy="1051560"/>
          </a:xfrm>
          <a:prstGeom prst="roundRect">
            <a:avLst/>
          </a:prstGeom>
          <a:solidFill>
            <a:srgbClr val="F4F6FB"/>
          </a:solidFill>
          <a:ln w="12700">
            <a:solidFill>
              <a:srgbClr val="E2E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5084064"/>
            <a:ext cx="109728" cy="1051560"/>
          </a:xfrm>
          <a:prstGeom prst="rect">
            <a:avLst/>
          </a:prstGeom>
          <a:solidFill>
            <a:srgbClr val="E59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5193792"/>
            <a:ext cx="3657600" cy="8686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B145A"/>
                </a:solidFill>
                <a:latin typeface="맑은 고딕"/>
                <a:ea typeface="맑은 고딕"/>
                <a:cs typeface="맑은 고딕"/>
              </a:rPr>
              <a:t>키 관리가 핵심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5193792"/>
            <a:ext cx="6858000" cy="8686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복원은 담당자 키로만 가능 → 키를 안전하게 보관·관리해야 합니다. 키 분실 시 복원 불가.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E5C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31520"/>
            <a:ext cx="100584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시작하기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201168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9FB3F2"/>
                </a:solidFill>
                <a:latin typeface="맑은 고딕"/>
                <a:ea typeface="맑은 고딕"/>
                <a:cs typeface="맑은 고딕"/>
              </a:rPr>
              <a:t>1  보호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34640" y="1764792"/>
            <a:ext cx="82296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민감 파일을 게이트웨이에 통과 → 토큰본 + 암호화 금고 생성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651760"/>
            <a:ext cx="201168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9FB3F2"/>
                </a:solidFill>
                <a:latin typeface="맑은 고딕"/>
                <a:ea typeface="맑은 고딕"/>
                <a:cs typeface="맑은 고딕"/>
              </a:rPr>
              <a:t>2  작업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34640" y="2679191"/>
            <a:ext cx="82296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토큰본으로 평소처럼 안내문·통지·리포트 작성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566160"/>
            <a:ext cx="201168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9FB3F2"/>
                </a:solidFill>
                <a:latin typeface="맑은 고딕"/>
                <a:ea typeface="맑은 고딕"/>
                <a:cs typeface="맑은 고딕"/>
              </a:rPr>
              <a:t>3  복원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3593591"/>
            <a:ext cx="82296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담당자 키로 최종본만 원복하여 발송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4754880"/>
            <a:ext cx="10424160" cy="1143000"/>
          </a:xfrm>
          <a:prstGeom prst="roundRect">
            <a:avLst/>
          </a:prstGeom>
          <a:solidFill>
            <a:srgbClr val="16226E"/>
          </a:solidFill>
          <a:ln w="12700">
            <a:solidFill>
              <a:srgbClr val="3E5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l"/>
            <a:r>
              <a:rPr sz="1300" b="1">
                <a:solidFill>
                  <a:srgbClr val="9FB3F2"/>
                </a:solidFill>
                <a:latin typeface="맑은 고딕"/>
                <a:ea typeface="맑은 고딕"/>
                <a:cs typeface="맑은 고딕"/>
              </a:rPr>
              <a:t>문의 · 도입 지원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담당자 키 발급과 적용 방법은 데이터보호 담당 부서로 문의해 주세요.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6263640"/>
            <a:ext cx="1042416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A97C9"/>
                </a:solidFill>
                <a:latin typeface="맑은 고딕"/>
                <a:ea typeface="맑은 고딕"/>
                <a:cs typeface="맑은 고딕"/>
              </a:rPr>
              <a:t>※ 본 자료의 디자인은 Samsung DS 브랜드를 근사한 것이며, 데이터는 모두 합성(가상) 예시입니다.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