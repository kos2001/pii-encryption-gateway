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75488"/>
            <a:ext cx="10058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8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개인정보 보호 게이트웨이</a:t>
            </a:r>
          </a:p>
          <a:p>
            <a:pPr algn="l">
              <a:lnSpc>
                <a:spcPct val="112000"/>
              </a:lnSpc>
            </a:pPr>
            <a:r>
              <a:rPr sz="2200" b="0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PII Encryption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10312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인사 데이터를 AI에 </a:t>
            </a: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그대로 노출하지 않고</a:t>
            </a: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안전하게 활용하는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  ·  2026.06  · 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필요한가요?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인사 데이터에는 </a:t>
            </a:r>
            <a:r>
              <a:rPr sz="1800" b="1">
                <a:solidFill>
                  <a:srgbClr val="D64541"/>
                </a:solidFill>
                <a:latin typeface="맑은 고딕"/>
                <a:ea typeface="맑은 고딕"/>
                <a:cs typeface="맑은 고딕"/>
              </a:rPr>
              <a:t>가장 민감한 개인정보</a:t>
            </a: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 들어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20574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연봉·급여</a:t>
            </a:r>
          </a:p>
          <a:p>
            <a:pPr algn="ctr"/>
            <a:r>
              <a:rPr sz="11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급여대장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2103120"/>
            <a:ext cx="20574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주민등록번호</a:t>
            </a:r>
          </a:p>
          <a:p>
            <a:pPr algn="ctr"/>
            <a:r>
              <a:rPr sz="11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신원 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74336" y="2103120"/>
            <a:ext cx="20574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계좌번호</a:t>
            </a:r>
          </a:p>
          <a:p>
            <a:pPr algn="ctr"/>
            <a:r>
              <a:rPr sz="11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급여 이체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7183" y="2103120"/>
            <a:ext cx="20574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전화·이메일</a:t>
            </a:r>
          </a:p>
          <a:p>
            <a:pPr algn="ctr"/>
            <a:r>
              <a:rPr sz="11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연락처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0032" y="2103120"/>
            <a:ext cx="2057400" cy="9144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근태</a:t>
            </a:r>
          </a:p>
          <a:p>
            <a:pPr algn="ctr"/>
            <a:r>
              <a:rPr sz="11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지각·결근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그런데 이 데이터로 </a:t>
            </a:r>
            <a:r>
              <a:rPr sz="18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AI에게 안내문·통지·리포트</a:t>
            </a:r>
            <a:r>
              <a:rPr sz="1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를 맡기려면?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91672" cy="173736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800" b="1">
                <a:solidFill>
                  <a:srgbClr val="D64541"/>
                </a:solidFill>
                <a:latin typeface="맑은 고딕"/>
                <a:ea typeface="맑은 고딕"/>
                <a:cs typeface="맑은 고딕"/>
              </a:rPr>
              <a:t>⚠  위험: 원본을 그대로 AI에 넣으면 민감정보가 모델에 노출됩니다</a:t>
            </a:r>
          </a:p>
          <a:p>
            <a:pPr algn="l"/>
            <a:r>
              <a:rPr sz="1400" b="0">
                <a:solidFill>
                  <a:srgbClr val="70747C"/>
                </a:solidFill>
                <a:latin typeface="Consolas"/>
                <a:ea typeface="Consolas"/>
                <a:cs typeface="Consolas"/>
              </a:rPr>
              <a:t>최민준 · 770324-1809570 · 5,350만원 · 신한 617-1434-688508 …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 번 노출된 개인정보는 되돌릴 수 없고, 유출 시 법적·평판 리스크가 큽니다.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장 요약: 무엇인가요?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91672" cy="123444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민감한 값을 ‘대리 번호표(토큰)’로 바꿔 AI에 보여주고,</a:t>
            </a:r>
          </a:p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작업이 끝나면 담당자 키로만 원래 값을 되돌려 주는 안전 통로입니다.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🔐  은행 금고에 비유하면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352044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금고에 보관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31089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원본 민감정보는 암호화해 ‘금고(vault)’에 넣습니다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3337560"/>
            <a:ext cx="352044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1416" y="3566160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29768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번호표로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4754880"/>
            <a:ext cx="31089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AI는 실제 값 대신 번호표(토큰)만 보고 일합니다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3337560"/>
            <a:ext cx="352044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3566160"/>
            <a:ext cx="548640" cy="54864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29768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열쇠 가진 사람만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754880"/>
            <a:ext cx="31089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담당자 키가 있어야 원본을 꺼내볼 수 있습니다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어떻게 동작하나요? — 3단계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611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3611880" cy="6400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7335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보호 (Protect)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30632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원본 → 토큰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원본은 키로 암호화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31920"/>
            <a:ext cx="3154680" cy="8686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5,350만원  →  [[SALARY:3f9a2c1d]]</a:t>
            </a:r>
          </a:p>
        </p:txBody>
      </p:sp>
      <p:sp>
        <p:nvSpPr>
          <p:cNvPr id="15" name="Chevron 14"/>
          <p:cNvSpPr/>
          <p:nvPr/>
        </p:nvSpPr>
        <p:spPr>
          <a:xfrm>
            <a:off x="4187952" y="3017520"/>
            <a:ext cx="310896" cy="54864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79" y="1600200"/>
            <a:ext cx="3611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79" y="1600200"/>
            <a:ext cx="3611880" cy="6400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67335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작업 (Work)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599" y="2468880"/>
            <a:ext cx="30632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AI는 토큰만 보고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안내문·통지·리포트 작성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3931920"/>
            <a:ext cx="3154680" cy="8686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“[[NAME]]님의 연봉은 [[SALARY]]…”</a:t>
            </a:r>
          </a:p>
        </p:txBody>
      </p:sp>
      <p:sp>
        <p:nvSpPr>
          <p:cNvPr id="21" name="Chevron 20"/>
          <p:cNvSpPr/>
          <p:nvPr/>
        </p:nvSpPr>
        <p:spPr>
          <a:xfrm>
            <a:off x="8165592" y="3017520"/>
            <a:ext cx="310896" cy="54864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19" y="1600200"/>
            <a:ext cx="3611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19" y="1600200"/>
            <a:ext cx="3611880" cy="6400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673352"/>
            <a:ext cx="36118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복원 (Reveal)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468880"/>
            <a:ext cx="30632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담당자 키로 토큰 →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원본 (인가자만)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19" y="3931920"/>
            <a:ext cx="3154680" cy="8686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[[SALARY:3f9a2c1d]]  →  5,350만원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3520"/>
            <a:ext cx="11091672" cy="7772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핵심: 작업 중 AI 화면(중간본)에는 </a:t>
            </a:r>
            <a:r>
              <a:rPr sz="15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실제 값이 단 한 번도 등장하지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보호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무엇을, 어디까지 보호하나요?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자동으로 찾아 가리는 민감정보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주민등록번호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2880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연봉·급여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계좌번호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전화번호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이메일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3172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카드번호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33172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사업자등록번호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33172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IP 주소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331720"/>
            <a:ext cx="2103120" cy="3840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직원 이름(명부)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네 가지 방식으로 빠짐없이 탐지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5440680" cy="8412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91440" cy="8412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566160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① 컬럼 이름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566160"/>
            <a:ext cx="29718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‘연봉’, ‘주민번호’ 같은 열을 인식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74720"/>
            <a:ext cx="5440680" cy="8412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474720"/>
            <a:ext cx="91440" cy="8412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66160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② 컬럼 형태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566160"/>
            <a:ext cx="29718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이름이 달라도 값 모양으로 자동 판별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34840"/>
            <a:ext cx="5440680" cy="8412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434840"/>
            <a:ext cx="91440" cy="8412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526279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③ 값 모양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526279"/>
            <a:ext cx="29718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문장 속에 섞인 번호·연락처도 탐지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34840"/>
            <a:ext cx="5440680" cy="84124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34840"/>
            <a:ext cx="91440" cy="8412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526279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④ 명부 이름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526279"/>
            <a:ext cx="29718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담당자 명부의 직원 이름을 정확히 가림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86400"/>
            <a:ext cx="11091672" cy="566928"/>
          </a:xfrm>
          <a:prstGeom prst="roundRect">
            <a:avLst/>
          </a:prstGeom>
          <a:solidFill>
            <a:srgbClr val="ECEFF9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엑셀·CSV 명부뿐 아니라 </a:t>
            </a:r>
            <a:r>
              <a:rPr sz="14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메모·이메일 초안 같은 문서(.txt/.md)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도 그대로 보호됩니다.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인사팀에게 무엇이 좋은가요?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731520" cy="73152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민감정보가 AI에 0건 노출.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유출 리스크를 원천 차단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60020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6824" y="1828800"/>
            <a:ext cx="731520" cy="73152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65176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간편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06324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평소처럼 안내문·통지문 작성.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보호는 도구가 알아서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60020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04888" y="1828800"/>
            <a:ext cx="731520" cy="73152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65176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되돌림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06324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담당자 키로만 원복.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키 없으면 복원 불가 = 접근통제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1600200"/>
            <a:ext cx="2651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02952" y="1828800"/>
            <a:ext cx="731520" cy="73152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65176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1" y="306324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대규모에선 토큰도 더 적게 사용</a:t>
            </a:r>
          </a:p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(원본 전체를 읽지 않으므로)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11091672" cy="150876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검증 결과 (동일 과제 비교)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게이트웨이 사용 100%  vs  미사용 62.5%</a:t>
            </a:r>
          </a:p>
          <a:p>
            <a:pPr algn="ctr"/>
            <a:r>
              <a:rPr sz="1300" b="0">
                <a:solidFill>
                  <a:srgbClr val="D3D6DD"/>
                </a:solidFill>
                <a:latin typeface="맑은 고딕"/>
                <a:ea typeface="맑은 고딕"/>
                <a:cs typeface="맑은 고딕"/>
              </a:rPr>
              <a:t>개인 안내·통지 작업에서 미사용은 매번 실제 PII가 노출 — 게이트웨이는 누출 0 유지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사용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실제로 이렇게 쓰입니다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예) 사번 E0007 직원에게 </a:t>
            </a:r>
            <a:r>
              <a:rPr sz="16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2026년 연봉 안내 메일</a:t>
            </a:r>
            <a:r>
              <a:rPr sz="1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440680" cy="32918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440680" cy="548640"/>
          </a:xfrm>
          <a:prstGeom prst="roundRect">
            <a:avLst/>
          </a:prstGeom>
          <a:solidFill>
            <a:srgbClr val="707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84248"/>
            <a:ext cx="5440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보는 중간본 (토큰)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493776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받는사람: [[NAME:369de402]]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안녕하세요, [[NAME:369de402]]님.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2026년 확정 연봉은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[[SALARY:28314826]] 입니다.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9E5E"/>
                </a:solidFill>
                <a:latin typeface="맑은 고딕"/>
                <a:ea typeface="맑은 고딕"/>
                <a:cs typeface="맑은 고딕"/>
              </a:rPr>
              <a:t>→ 실제 이름·연봉 없음 ✓</a:t>
            </a:r>
          </a:p>
        </p:txBody>
      </p:sp>
      <p:sp>
        <p:nvSpPr>
          <p:cNvPr id="15" name="Chevron 14"/>
          <p:cNvSpPr/>
          <p:nvPr/>
        </p:nvSpPr>
        <p:spPr>
          <a:xfrm>
            <a:off x="6053328" y="3291840"/>
            <a:ext cx="502920" cy="54864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920240"/>
            <a:ext cx="4965192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1920240"/>
            <a:ext cx="4965192" cy="54864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84248"/>
            <a:ext cx="4965192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담당자만 보는 최종본 (원본 복원)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651760"/>
            <a:ext cx="448056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받는사람: 신다은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안녕하세요, 신다은님.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2026년 확정 연봉은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3,194만원 입니다.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→ 인가된 담당자에게만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 방식으로 </a:t>
            </a:r>
            <a:r>
              <a:rPr sz="14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근태 통지·상여금 입금 안내·부서 리포트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등 일상 업무에 그대로 적용됩니다.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꼭 알아둘 점 (솔직한 한계)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11091672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109728" cy="1051560"/>
          </a:xfrm>
          <a:prstGeom prst="rect">
            <a:avLst/>
          </a:prstGeom>
          <a:solidFill>
            <a:srgbClr val="E5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18488"/>
            <a:ext cx="3657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토큰으로는 계산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18488"/>
            <a:ext cx="68580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‘평균 연봉’ 같은 집계는 토큰으로 못 합니다. 원본 대상 스크립트로 계산해 결과 숫자만 활용합니다.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15768"/>
            <a:ext cx="11091672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15768"/>
            <a:ext cx="109728" cy="1051560"/>
          </a:xfrm>
          <a:prstGeom prst="rect">
            <a:avLst/>
          </a:prstGeom>
          <a:solidFill>
            <a:srgbClr val="E5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25496"/>
            <a:ext cx="3657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 값 = 같은 번호표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25496"/>
            <a:ext cx="68580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그룹핑이 가능한 대신, 누가 같은 값을 갖는지(동일성)는 드러납니다. 값 자체는 키 없이 복원 불가.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22776"/>
            <a:ext cx="11091672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22776"/>
            <a:ext cx="109728" cy="1051560"/>
          </a:xfrm>
          <a:prstGeom prst="rect">
            <a:avLst/>
          </a:prstGeom>
          <a:solidFill>
            <a:srgbClr val="E5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32504"/>
            <a:ext cx="3657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문장 속 이름은 명부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32504"/>
            <a:ext cx="68580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패턴이 없는 ‘이름’은 담당자 명부를 줘야 가립니다. 명부에 없는 외부 인물 이름은 탐지 못 함.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9783"/>
            <a:ext cx="11091672" cy="10515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29783"/>
            <a:ext cx="109728" cy="1051560"/>
          </a:xfrm>
          <a:prstGeom prst="rect">
            <a:avLst/>
          </a:prstGeom>
          <a:solidFill>
            <a:srgbClr val="E5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39512"/>
            <a:ext cx="3657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키 관리가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39512"/>
            <a:ext cx="68580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복원은 담당자 키로만 가능 → 키를 안전하게 보관·관리해야 합니다. 키 분실 시 복원 불가.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"/>
            <a:ext cx="34107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SAMSUNG </a:t>
            </a:r>
            <a:r>
              <a:rPr sz="11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대외비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615391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인사팀 대상 설명자료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11091672" cy="8229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1280160" cy="54864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 보호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91640"/>
            <a:ext cx="8961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민감 파일을 게이트웨이에 통과 → 토큰본 + 암호화 금고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11091672" cy="8229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697479"/>
            <a:ext cx="1280160" cy="54864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 작업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51760"/>
            <a:ext cx="8961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토큰본으로 평소처럼 안내문·통지·리포트 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11091672" cy="82296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1280160" cy="54864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 복원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11880"/>
            <a:ext cx="8961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담당자 키로 최종본만 원복하여 발송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11091672" cy="10972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300" b="1">
                <a:solidFill>
                  <a:srgbClr val="B9C4EA"/>
                </a:solidFill>
                <a:latin typeface="맑은 고딕"/>
                <a:ea typeface="맑은 고딕"/>
                <a:cs typeface="맑은 고딕"/>
              </a:rPr>
              <a:t>문의 · 도입 지원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 키 발급과 적용 방법은 데이터보호 담당 부서로 문의해 주세요.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0747C"/>
                </a:solidFill>
                <a:latin typeface="맑은 고딕"/>
                <a:ea typeface="맑은 고딕"/>
                <a:cs typeface="맑은 고딕"/>
              </a:rPr>
              <a:t>※ 데이터는 모두 합성(가상) 예시입니다.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